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y="8229600" cx="14630400"/>
  <p:notesSz cx="8229600" cy="14630400"/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tableStyles" Target="tableStyle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2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672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048673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en-US"/>
          </a:p>
        </p:txBody>
      </p:sp>
      <p:sp>
        <p:nvSpPr>
          <p:cNvPr id="1048674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bIns="45720" lIns="91440" rIns="91440" rtlCol="0" tIns="45720" vert="horz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5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676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4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4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5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5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6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7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3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3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1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2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0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0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58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59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59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59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4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5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6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7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8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Shape 0"/>
          <p:cNvSpPr/>
          <p:nvPr/>
        </p:nvSpPr>
        <p:spPr>
          <a:xfrm>
            <a:off x="0" y="0"/>
            <a:ext cx="14630400" cy="8229600"/>
          </a:xfrm>
          <a:prstGeom prst="rect"/>
          <a:solidFill>
            <a:srgbClr val="F6F4F4"/>
          </a:solidFill>
        </p:spPr>
      </p:sp>
      <p:sp>
        <p:nvSpPr>
          <p:cNvPr id="1048635" name="Shape 1"/>
          <p:cNvSpPr/>
          <p:nvPr/>
        </p:nvSpPr>
        <p:spPr>
          <a:xfrm>
            <a:off x="0" y="0"/>
            <a:ext cx="14630400" cy="8229600"/>
          </a:xfrm>
          <a:prstGeom prst="rect"/>
          <a:solidFill>
            <a:srgbClr val="FFFFFF"/>
          </a:solidFill>
        </p:spPr>
      </p:sp>
      <p:pic>
        <p:nvPicPr>
          <p:cNvPr id="2097165" name="Image 0" descr="preencoded.png">
            <a:hlinkClick r:id="rId1" tooltip=""/>
          </p:cNvPr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/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Shape 0"/>
          <p:cNvSpPr/>
          <p:nvPr/>
        </p:nvSpPr>
        <p:spPr>
          <a:xfrm>
            <a:off x="0" y="0"/>
            <a:ext cx="14630400" cy="8229600"/>
          </a:xfrm>
          <a:prstGeom prst="rect"/>
          <a:solidFill>
            <a:srgbClr val="F6F4F4"/>
          </a:solidFill>
        </p:spPr>
      </p:sp>
      <p:sp>
        <p:nvSpPr>
          <p:cNvPr id="1048646" name="Shape 1"/>
          <p:cNvSpPr/>
          <p:nvPr/>
        </p:nvSpPr>
        <p:spPr>
          <a:xfrm>
            <a:off x="0" y="0"/>
            <a:ext cx="14630400" cy="8229600"/>
          </a:xfrm>
          <a:prstGeom prst="rect"/>
          <a:solidFill>
            <a:srgbClr val="FFFFFF"/>
          </a:solidFill>
        </p:spPr>
      </p:sp>
      <p:pic>
        <p:nvPicPr>
          <p:cNvPr id="2097168" name="Image 0" descr="preencoded.png">
            <a:hlinkClick r:id="rId1" tooltip=""/>
          </p:cNvPr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/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Shape 0"/>
          <p:cNvSpPr/>
          <p:nvPr/>
        </p:nvSpPr>
        <p:spPr>
          <a:xfrm>
            <a:off x="0" y="0"/>
            <a:ext cx="14630400" cy="8229600"/>
          </a:xfrm>
          <a:prstGeom prst="rect"/>
          <a:solidFill>
            <a:srgbClr val="F6F4F4"/>
          </a:solidFill>
        </p:spPr>
      </p:sp>
      <p:sp>
        <p:nvSpPr>
          <p:cNvPr id="1048657" name="Shape 1"/>
          <p:cNvSpPr/>
          <p:nvPr/>
        </p:nvSpPr>
        <p:spPr>
          <a:xfrm>
            <a:off x="0" y="0"/>
            <a:ext cx="14630400" cy="8229600"/>
          </a:xfrm>
          <a:prstGeom prst="rect"/>
          <a:solidFill>
            <a:srgbClr val="FFFFFF"/>
          </a:solidFill>
        </p:spPr>
      </p:sp>
      <p:pic>
        <p:nvPicPr>
          <p:cNvPr id="2097169" name="Image 0" descr="preencoded.png">
            <a:hlinkClick r:id="rId1" tooltip=""/>
          </p:cNvPr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/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Shape 0"/>
          <p:cNvSpPr/>
          <p:nvPr/>
        </p:nvSpPr>
        <p:spPr>
          <a:xfrm>
            <a:off x="0" y="0"/>
            <a:ext cx="14630400" cy="8229600"/>
          </a:xfrm>
          <a:prstGeom prst="rect"/>
          <a:solidFill>
            <a:srgbClr val="F6F4F4"/>
          </a:solidFill>
        </p:spPr>
      </p:sp>
      <p:sp>
        <p:nvSpPr>
          <p:cNvPr id="1048622" name="Shape 1"/>
          <p:cNvSpPr/>
          <p:nvPr/>
        </p:nvSpPr>
        <p:spPr>
          <a:xfrm>
            <a:off x="0" y="0"/>
            <a:ext cx="14630400" cy="8229600"/>
          </a:xfrm>
          <a:prstGeom prst="rect"/>
          <a:solidFill>
            <a:srgbClr val="FFFFFF"/>
          </a:solidFill>
        </p:spPr>
      </p:sp>
      <p:pic>
        <p:nvPicPr>
          <p:cNvPr id="2097163" name="Image 0" descr="preencoded.png">
            <a:hlinkClick r:id="rId1" tooltip=""/>
          </p:cNvPr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/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Shape 0"/>
          <p:cNvSpPr/>
          <p:nvPr/>
        </p:nvSpPr>
        <p:spPr>
          <a:xfrm>
            <a:off x="0" y="0"/>
            <a:ext cx="14630400" cy="8229600"/>
          </a:xfrm>
          <a:prstGeom prst="rect"/>
          <a:solidFill>
            <a:srgbClr val="F6F4F4"/>
          </a:solidFill>
        </p:spPr>
      </p:sp>
      <p:sp>
        <p:nvSpPr>
          <p:cNvPr id="1048611" name="Shape 1"/>
          <p:cNvSpPr/>
          <p:nvPr/>
        </p:nvSpPr>
        <p:spPr>
          <a:xfrm>
            <a:off x="0" y="0"/>
            <a:ext cx="14630400" cy="8229600"/>
          </a:xfrm>
          <a:prstGeom prst="rect"/>
          <a:solidFill>
            <a:srgbClr val="FFFFFF"/>
          </a:solidFill>
        </p:spPr>
      </p:sp>
      <p:pic>
        <p:nvPicPr>
          <p:cNvPr id="2097162" name="Image 0" descr="preencoded.png">
            <a:hlinkClick r:id="rId1" tooltip=""/>
          </p:cNvPr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/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Shape 0"/>
          <p:cNvSpPr/>
          <p:nvPr/>
        </p:nvSpPr>
        <p:spPr>
          <a:xfrm>
            <a:off x="0" y="0"/>
            <a:ext cx="14630400" cy="8229600"/>
          </a:xfrm>
          <a:prstGeom prst="rect"/>
          <a:solidFill>
            <a:srgbClr val="F6F4F4"/>
          </a:solidFill>
        </p:spPr>
      </p:sp>
      <p:sp>
        <p:nvSpPr>
          <p:cNvPr id="1048600" name="Shape 1"/>
          <p:cNvSpPr/>
          <p:nvPr/>
        </p:nvSpPr>
        <p:spPr>
          <a:xfrm>
            <a:off x="0" y="0"/>
            <a:ext cx="14630400" cy="8229600"/>
          </a:xfrm>
          <a:prstGeom prst="rect"/>
          <a:solidFill>
            <a:srgbClr val="FFFFFF"/>
          </a:solidFill>
        </p:spPr>
      </p:sp>
      <p:pic>
        <p:nvPicPr>
          <p:cNvPr id="2097158" name="Image 0" descr="preencoded.png">
            <a:hlinkClick r:id="rId1" tooltip=""/>
          </p:cNvPr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/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Shape 0"/>
          <p:cNvSpPr/>
          <p:nvPr/>
        </p:nvSpPr>
        <p:spPr>
          <a:xfrm>
            <a:off x="0" y="0"/>
            <a:ext cx="14630400" cy="8229600"/>
          </a:xfrm>
          <a:prstGeom prst="rect"/>
          <a:solidFill>
            <a:srgbClr val="F6F4F4"/>
          </a:solidFill>
        </p:spPr>
      </p:sp>
      <p:sp>
        <p:nvSpPr>
          <p:cNvPr id="1048577" name="Shape 1"/>
          <p:cNvSpPr/>
          <p:nvPr/>
        </p:nvSpPr>
        <p:spPr>
          <a:xfrm>
            <a:off x="0" y="0"/>
            <a:ext cx="14630400" cy="8229600"/>
          </a:xfrm>
          <a:prstGeom prst="rect"/>
          <a:solidFill>
            <a:srgbClr val="FFFFFF"/>
          </a:solidFill>
        </p:spPr>
      </p:sp>
      <p:pic>
        <p:nvPicPr>
          <p:cNvPr id="2097152" name="Image 0" descr="preencoded.png">
            <a:hlinkClick r:id="rId1" tooltip=""/>
          </p:cNvPr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/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Shape 0"/>
          <p:cNvSpPr/>
          <p:nvPr/>
        </p:nvSpPr>
        <p:spPr>
          <a:xfrm>
            <a:off x="0" y="0"/>
            <a:ext cx="14630400" cy="8229600"/>
          </a:xfrm>
          <a:prstGeom prst="rect"/>
          <a:solidFill>
            <a:srgbClr val="F6F4F4"/>
          </a:solidFill>
        </p:spPr>
      </p:sp>
      <p:sp>
        <p:nvSpPr>
          <p:cNvPr id="1048592" name="Shape 1"/>
          <p:cNvSpPr/>
          <p:nvPr/>
        </p:nvSpPr>
        <p:spPr>
          <a:xfrm>
            <a:off x="0" y="0"/>
            <a:ext cx="14630400" cy="8229600"/>
          </a:xfrm>
          <a:prstGeom prst="rect"/>
          <a:solidFill>
            <a:srgbClr val="FFFFFF"/>
          </a:solidFill>
        </p:spPr>
      </p:sp>
      <p:pic>
        <p:nvPicPr>
          <p:cNvPr id="2097156" name="Image 0" descr="preencoded.png">
            <a:hlinkClick r:id="rId1" tooltip=""/>
          </p:cNvPr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/>
        </p:spPr>
      </p:pic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6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/>
        </p:spPr>
      </p:pic>
      <p:sp>
        <p:nvSpPr>
          <p:cNvPr id="1048636" name="Text 0"/>
          <p:cNvSpPr/>
          <p:nvPr/>
        </p:nvSpPr>
        <p:spPr>
          <a:xfrm>
            <a:off x="6280190" y="2365534"/>
            <a:ext cx="7556421" cy="1417558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lnSpc>
                <a:spcPts val="5550"/>
              </a:lnSpc>
              <a:buNone/>
            </a:pPr>
            <a:r>
              <a:rPr b="1" dirty="0" sz="4450" kern="0" lang="en-US" spc="-134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Student Entrepreneur System</a:t>
            </a:r>
            <a:endParaRPr dirty="0" sz="4450" lang="en-US"/>
          </a:p>
        </p:txBody>
      </p:sp>
      <p:sp>
        <p:nvSpPr>
          <p:cNvPr id="1048637" name="Text 1"/>
          <p:cNvSpPr/>
          <p:nvPr/>
        </p:nvSpPr>
        <p:spPr>
          <a:xfrm>
            <a:off x="6280190" y="4123253"/>
            <a:ext cx="7556421" cy="1088708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lnSpc>
                <a:spcPts val="2850"/>
              </a:lnSpc>
              <a:buNone/>
            </a:pPr>
            <a:r>
              <a:rPr dirty="0" sz="1750" kern="0" lang="en-US" spc="-36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Student Entrepreneur System is a platform designed to facilitate student entrepreneurs in offering their services and products to users. The system consists of three main modules: Admin, Student, and User.</a:t>
            </a:r>
            <a:endParaRPr dirty="0" sz="1750" lang="en-US"/>
          </a:p>
        </p:txBody>
      </p:sp>
      <p:sp>
        <p:nvSpPr>
          <p:cNvPr id="1048638" name="Shape 2"/>
          <p:cNvSpPr/>
          <p:nvPr/>
        </p:nvSpPr>
        <p:spPr>
          <a:xfrm>
            <a:off x="6280190" y="5484019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2097167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5138737" y="15173177"/>
            <a:ext cx="347663" cy="347663"/>
          </a:xfrm>
          <a:prstGeom prst="rect"/>
        </p:spPr>
      </p:pic>
      <p:sp>
        <p:nvSpPr>
          <p:cNvPr id="1048639" name="Text 3"/>
          <p:cNvSpPr/>
          <p:nvPr/>
        </p:nvSpPr>
        <p:spPr>
          <a:xfrm>
            <a:off x="6635472" y="12540032"/>
            <a:ext cx="1683901" cy="39683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3100"/>
              </a:lnSpc>
              <a:buNone/>
            </a:pPr>
            <a:r>
              <a:rPr b="1" dirty="0" sz="2200" kern="0" lang="en-US" spc="-36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by Anas Cyz</a:t>
            </a:r>
            <a:endParaRPr dirty="0" sz="2200" lang="en-US"/>
          </a:p>
        </p:txBody>
      </p:sp>
      <p:sp>
        <p:nvSpPr>
          <p:cNvPr id="1048640" name=""/>
          <p:cNvSpPr/>
          <p:nvPr/>
        </p:nvSpPr>
        <p:spPr>
          <a:xfrm>
            <a:off x="10058400" y="6705600"/>
            <a:ext cx="5061042" cy="3048000"/>
          </a:xfrm>
          <a:prstGeom prst="roundRect"/>
          <a:solidFill>
            <a:srgbClr val="FFFFFF"/>
          </a:solidFill>
          <a:ln w="25400">
            <a:noFill/>
            <a:prstDash val="solid"/>
          </a:ln>
        </p:spPr>
        <p:txBody>
          <a:bodyPr anchor="ctr"/>
          <a:p>
            <a:pPr algn="ctr"/>
            <a:endParaRPr lang="en-IN"/>
          </a:p>
        </p:txBody>
      </p:sp>
      <p:sp>
        <p:nvSpPr>
          <p:cNvPr id="1048641" name=""/>
          <p:cNvSpPr txBox="1"/>
          <p:nvPr/>
        </p:nvSpPr>
        <p:spPr>
          <a:xfrm>
            <a:off x="7315200" y="6195059"/>
            <a:ext cx="5930900" cy="1539240"/>
          </a:xfrm>
          <a:prstGeom prst="rect"/>
        </p:spPr>
        <p:txBody>
          <a:bodyPr rtlCol="0" wrap="square">
            <a:spAutoFit/>
          </a:bodyPr>
          <a:p>
            <a:r>
              <a:rPr sz="3200" lang="en-US">
                <a:solidFill>
                  <a:srgbClr val="000000"/>
                </a:solidFill>
              </a:rPr>
              <a:t>P</a:t>
            </a:r>
            <a:r>
              <a:rPr sz="3200" lang="en-US">
                <a:solidFill>
                  <a:srgbClr val="000000"/>
                </a:solidFill>
              </a:rPr>
              <a:t>r</a:t>
            </a:r>
            <a:r>
              <a:rPr sz="3200" lang="en-US">
                <a:solidFill>
                  <a:srgbClr val="000000"/>
                </a:solidFill>
              </a:rPr>
              <a:t>e</a:t>
            </a:r>
            <a:r>
              <a:rPr sz="3200" lang="en-US">
                <a:solidFill>
                  <a:srgbClr val="000000"/>
                </a:solidFill>
              </a:rPr>
              <a:t>s</a:t>
            </a:r>
            <a:r>
              <a:rPr sz="3200" lang="en-US">
                <a:solidFill>
                  <a:srgbClr val="000000"/>
                </a:solidFill>
              </a:rPr>
              <a:t>e</a:t>
            </a:r>
            <a:r>
              <a:rPr sz="3200" lang="en-US">
                <a:solidFill>
                  <a:srgbClr val="000000"/>
                </a:solidFill>
              </a:rPr>
              <a:t>n</a:t>
            </a:r>
            <a:r>
              <a:rPr sz="3200" lang="en-US">
                <a:solidFill>
                  <a:srgbClr val="000000"/>
                </a:solidFill>
              </a:rPr>
              <a:t>t</a:t>
            </a:r>
            <a:r>
              <a:rPr sz="3200" lang="en-US">
                <a:solidFill>
                  <a:srgbClr val="000000"/>
                </a:solidFill>
              </a:rPr>
              <a:t>e</a:t>
            </a:r>
            <a:r>
              <a:rPr sz="3200" lang="en-US">
                <a:solidFill>
                  <a:srgbClr val="000000"/>
                </a:solidFill>
              </a:rPr>
              <a:t>d</a:t>
            </a:r>
            <a:r>
              <a:rPr sz="3200" lang="en-US">
                <a:solidFill>
                  <a:srgbClr val="000000"/>
                </a:solidFill>
              </a:rPr>
              <a:t> </a:t>
            </a:r>
            <a:r>
              <a:rPr sz="3200" lang="en-US">
                <a:solidFill>
                  <a:srgbClr val="000000"/>
                </a:solidFill>
              </a:rPr>
              <a:t>b</a:t>
            </a:r>
            <a:r>
              <a:rPr sz="3200" lang="en-US">
                <a:solidFill>
                  <a:srgbClr val="000000"/>
                </a:solidFill>
              </a:rPr>
              <a:t>y</a:t>
            </a:r>
            <a:r>
              <a:rPr sz="3200" lang="en-US">
                <a:solidFill>
                  <a:srgbClr val="000000"/>
                </a:solidFill>
              </a:rPr>
              <a:t>:</a:t>
            </a:r>
            <a:endParaRPr sz="3200" lang="en-IN">
              <a:solidFill>
                <a:srgbClr val="000000"/>
              </a:solidFill>
            </a:endParaRPr>
          </a:p>
          <a:p>
            <a:r>
              <a:rPr sz="3200" lang="en-US">
                <a:solidFill>
                  <a:srgbClr val="000000"/>
                </a:solidFill>
              </a:rPr>
              <a:t>M</a:t>
            </a:r>
            <a:r>
              <a:rPr sz="3200" lang="en-US">
                <a:solidFill>
                  <a:srgbClr val="000000"/>
                </a:solidFill>
              </a:rPr>
              <a:t>a</a:t>
            </a:r>
            <a:r>
              <a:rPr sz="3200" lang="en-US">
                <a:solidFill>
                  <a:srgbClr val="000000"/>
                </a:solidFill>
              </a:rPr>
              <a:t>n</a:t>
            </a:r>
            <a:r>
              <a:rPr sz="3200" lang="en-US">
                <a:solidFill>
                  <a:srgbClr val="000000"/>
                </a:solidFill>
              </a:rPr>
              <a:t>u</a:t>
            </a:r>
            <a:r>
              <a:rPr sz="3200" lang="en-US">
                <a:solidFill>
                  <a:srgbClr val="000000"/>
                </a:solidFill>
              </a:rPr>
              <a:t> </a:t>
            </a:r>
            <a:r>
              <a:rPr sz="3200" lang="en-US">
                <a:solidFill>
                  <a:srgbClr val="000000"/>
                </a:solidFill>
              </a:rPr>
              <a:t>p</a:t>
            </a:r>
            <a:r>
              <a:rPr sz="3200" lang="en-US">
                <a:solidFill>
                  <a:srgbClr val="000000"/>
                </a:solidFill>
              </a:rPr>
              <a:t>k</a:t>
            </a:r>
            <a:r>
              <a:rPr sz="3200" lang="en-US">
                <a:solidFill>
                  <a:srgbClr val="000000"/>
                </a:solidFill>
              </a:rPr>
              <a:t>,</a:t>
            </a:r>
            <a:r>
              <a:rPr sz="3200" lang="en-US">
                <a:solidFill>
                  <a:srgbClr val="000000"/>
                </a:solidFill>
              </a:rPr>
              <a:t> </a:t>
            </a:r>
            <a:r>
              <a:rPr sz="3200" lang="en-US">
                <a:solidFill>
                  <a:srgbClr val="000000"/>
                </a:solidFill>
              </a:rPr>
              <a:t>A</a:t>
            </a:r>
            <a:r>
              <a:rPr sz="3200" lang="en-US">
                <a:solidFill>
                  <a:srgbClr val="000000"/>
                </a:solidFill>
              </a:rPr>
              <a:t>n</a:t>
            </a:r>
            <a:r>
              <a:rPr sz="3200" lang="en-US">
                <a:solidFill>
                  <a:srgbClr val="000000"/>
                </a:solidFill>
              </a:rPr>
              <a:t>a</a:t>
            </a:r>
            <a:r>
              <a:rPr sz="3200" lang="en-US">
                <a:solidFill>
                  <a:srgbClr val="000000"/>
                </a:solidFill>
              </a:rPr>
              <a:t>s</a:t>
            </a:r>
            <a:r>
              <a:rPr sz="3200" lang="en-US">
                <a:solidFill>
                  <a:srgbClr val="000000"/>
                </a:solidFill>
              </a:rPr>
              <a:t> </a:t>
            </a:r>
            <a:r>
              <a:rPr sz="3200" lang="en-US">
                <a:solidFill>
                  <a:srgbClr val="000000"/>
                </a:solidFill>
              </a:rPr>
              <a:t>B</a:t>
            </a:r>
            <a:r>
              <a:rPr sz="3200" lang="en-US">
                <a:solidFill>
                  <a:srgbClr val="000000"/>
                </a:solidFill>
              </a:rPr>
              <a:t>h</a:t>
            </a:r>
            <a:r>
              <a:rPr sz="3200" lang="en-US">
                <a:solidFill>
                  <a:srgbClr val="000000"/>
                </a:solidFill>
              </a:rPr>
              <a:t>a</a:t>
            </a:r>
            <a:r>
              <a:rPr sz="3200" lang="en-US">
                <a:solidFill>
                  <a:srgbClr val="000000"/>
                </a:solidFill>
              </a:rPr>
              <a:t>n</a:t>
            </a:r>
            <a:r>
              <a:rPr sz="3200" lang="en-US">
                <a:solidFill>
                  <a:srgbClr val="000000"/>
                </a:solidFill>
              </a:rPr>
              <a:t>u</a:t>
            </a:r>
            <a:r>
              <a:rPr sz="3200" lang="en-US">
                <a:solidFill>
                  <a:srgbClr val="000000"/>
                </a:solidFill>
              </a:rPr>
              <a:t>,</a:t>
            </a:r>
            <a:r>
              <a:rPr sz="3200" lang="en-US">
                <a:solidFill>
                  <a:srgbClr val="000000"/>
                </a:solidFill>
              </a:rPr>
              <a:t> </a:t>
            </a:r>
            <a:r>
              <a:rPr sz="3200" lang="en-US">
                <a:solidFill>
                  <a:srgbClr val="000000"/>
                </a:solidFill>
              </a:rPr>
              <a:t>G</a:t>
            </a:r>
            <a:r>
              <a:rPr sz="3200" lang="en-US">
                <a:solidFill>
                  <a:srgbClr val="000000"/>
                </a:solidFill>
              </a:rPr>
              <a:t>o</a:t>
            </a:r>
            <a:r>
              <a:rPr sz="3200" lang="en-US">
                <a:solidFill>
                  <a:srgbClr val="000000"/>
                </a:solidFill>
              </a:rPr>
              <a:t>k</a:t>
            </a:r>
            <a:r>
              <a:rPr sz="3200" lang="en-US">
                <a:solidFill>
                  <a:srgbClr val="000000"/>
                </a:solidFill>
              </a:rPr>
              <a:t>u</a:t>
            </a:r>
            <a:r>
              <a:rPr sz="3200" lang="en-US">
                <a:solidFill>
                  <a:srgbClr val="000000"/>
                </a:solidFill>
              </a:rPr>
              <a:t>l</a:t>
            </a:r>
            <a:r>
              <a:rPr sz="3200" lang="en-US">
                <a:solidFill>
                  <a:srgbClr val="000000"/>
                </a:solidFill>
              </a:rPr>
              <a:t> </a:t>
            </a:r>
            <a:r>
              <a:rPr sz="3200" lang="en-US">
                <a:solidFill>
                  <a:srgbClr val="000000"/>
                </a:solidFill>
              </a:rPr>
              <a:t>k</a:t>
            </a:r>
            <a:r>
              <a:rPr sz="3200" lang="en-US">
                <a:solidFill>
                  <a:srgbClr val="000000"/>
                </a:solidFill>
              </a:rPr>
              <a:t>,</a:t>
            </a:r>
            <a:r>
              <a:rPr sz="3200" lang="en-US">
                <a:solidFill>
                  <a:srgbClr val="000000"/>
                </a:solidFill>
              </a:rPr>
              <a:t> </a:t>
            </a:r>
            <a:r>
              <a:rPr sz="3200" lang="en-US">
                <a:solidFill>
                  <a:srgbClr val="000000"/>
                </a:solidFill>
              </a:rPr>
              <a:t>A</a:t>
            </a:r>
            <a:r>
              <a:rPr sz="3200" lang="en-US">
                <a:solidFill>
                  <a:srgbClr val="000000"/>
                </a:solidFill>
              </a:rPr>
              <a:t>n</a:t>
            </a:r>
            <a:r>
              <a:rPr sz="3200" lang="en-US">
                <a:solidFill>
                  <a:srgbClr val="000000"/>
                </a:solidFill>
              </a:rPr>
              <a:t>s</a:t>
            </a:r>
            <a:r>
              <a:rPr sz="3200" lang="en-US">
                <a:solidFill>
                  <a:srgbClr val="000000"/>
                </a:solidFill>
              </a:rPr>
              <a:t>h</a:t>
            </a:r>
            <a:r>
              <a:rPr sz="3200" lang="en-US">
                <a:solidFill>
                  <a:srgbClr val="000000"/>
                </a:solidFill>
              </a:rPr>
              <a:t>a</a:t>
            </a:r>
            <a:r>
              <a:rPr sz="3200" lang="en-US">
                <a:solidFill>
                  <a:srgbClr val="000000"/>
                </a:solidFill>
              </a:rPr>
              <a:t>d</a:t>
            </a:r>
            <a:endParaRPr sz="3200" lang="en-IN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7" name="Text 0"/>
          <p:cNvSpPr/>
          <p:nvPr/>
        </p:nvSpPr>
        <p:spPr>
          <a:xfrm>
            <a:off x="793790" y="2358509"/>
            <a:ext cx="8285678" cy="708779"/>
          </a:xfrm>
          <a:prstGeom prst="rect"/>
          <a:noFill/>
        </p:spPr>
        <p:txBody>
          <a:bodyPr anchor="t" bIns="0" lIns="0" rIns="0" rtlCol="0" tIns="0" wrap="none"/>
          <a:p>
            <a:pPr indent="0" marL="0">
              <a:lnSpc>
                <a:spcPts val="5550"/>
              </a:lnSpc>
              <a:buNone/>
            </a:pPr>
            <a:r>
              <a:rPr b="1" dirty="0" sz="4450" kern="0" lang="en-US" spc="-134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Connecting Students and Users</a:t>
            </a:r>
            <a:endParaRPr dirty="0" sz="4450" lang="en-US"/>
          </a:p>
        </p:txBody>
      </p:sp>
      <p:sp>
        <p:nvSpPr>
          <p:cNvPr id="1048648" name="Text 1"/>
          <p:cNvSpPr/>
          <p:nvPr/>
        </p:nvSpPr>
        <p:spPr>
          <a:xfrm>
            <a:off x="793790" y="3634264"/>
            <a:ext cx="2835235" cy="354330"/>
          </a:xfrm>
          <a:prstGeom prst="rect"/>
          <a:noFill/>
        </p:spPr>
        <p:txBody>
          <a:bodyPr anchor="t" bIns="0" lIns="0" rIns="0" rtlCol="0" tIns="0" wrap="none"/>
          <a:p>
            <a:pPr indent="0" marL="0">
              <a:lnSpc>
                <a:spcPts val="2750"/>
              </a:lnSpc>
              <a:buNone/>
            </a:pPr>
            <a:r>
              <a:rPr b="1" dirty="0" sz="2200" kern="0" lang="en-US" spc="-67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Student Module</a:t>
            </a:r>
            <a:endParaRPr dirty="0" sz="2200" lang="en-US"/>
          </a:p>
        </p:txBody>
      </p:sp>
      <p:sp>
        <p:nvSpPr>
          <p:cNvPr id="1048649" name="Text 2"/>
          <p:cNvSpPr/>
          <p:nvPr/>
        </p:nvSpPr>
        <p:spPr>
          <a:xfrm>
            <a:off x="793790" y="4215408"/>
            <a:ext cx="6244709" cy="725805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lnSpc>
                <a:spcPts val="2850"/>
              </a:lnSpc>
              <a:buNone/>
            </a:pPr>
            <a:r>
              <a:rPr dirty="0" sz="1750" kern="0" lang="en-US" spc="-36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 can create profiles, list their services and products, set prices, and manage their availability and schedule.</a:t>
            </a:r>
            <a:endParaRPr dirty="0" sz="1750" lang="en-US"/>
          </a:p>
        </p:txBody>
      </p:sp>
      <p:sp>
        <p:nvSpPr>
          <p:cNvPr id="1048650" name="Text 3"/>
          <p:cNvSpPr/>
          <p:nvPr/>
        </p:nvSpPr>
        <p:spPr>
          <a:xfrm>
            <a:off x="7599521" y="3634264"/>
            <a:ext cx="2835235" cy="354330"/>
          </a:xfrm>
          <a:prstGeom prst="rect"/>
          <a:noFill/>
        </p:spPr>
        <p:txBody>
          <a:bodyPr anchor="t" bIns="0" lIns="0" rIns="0" rtlCol="0" tIns="0" wrap="none"/>
          <a:p>
            <a:pPr indent="0" marL="0">
              <a:lnSpc>
                <a:spcPts val="2750"/>
              </a:lnSpc>
              <a:buNone/>
            </a:pPr>
            <a:r>
              <a:rPr b="1" dirty="0" sz="2200" kern="0" lang="en-US" spc="-67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 Module</a:t>
            </a:r>
            <a:endParaRPr dirty="0" sz="2200" lang="en-US"/>
          </a:p>
        </p:txBody>
      </p:sp>
      <p:sp>
        <p:nvSpPr>
          <p:cNvPr id="1048651" name="Text 4"/>
          <p:cNvSpPr/>
          <p:nvPr/>
        </p:nvSpPr>
        <p:spPr>
          <a:xfrm>
            <a:off x="7599521" y="4215408"/>
            <a:ext cx="6244709" cy="145161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lnSpc>
                <a:spcPts val="2850"/>
              </a:lnSpc>
              <a:buNone/>
            </a:pPr>
            <a:r>
              <a:rPr dirty="0" sz="1750" kern="0" lang="en-US" spc="-36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can create accounts, search for services and products based on location, view detailed information about each offering, and book services based on available time slots.</a:t>
            </a:r>
            <a:endParaRPr dirty="0" sz="1750" lang="en-US"/>
          </a:p>
        </p:txBody>
      </p:sp>
      <p:sp>
        <p:nvSpPr>
          <p:cNvPr id="1048652" name=""/>
          <p:cNvSpPr/>
          <p:nvPr/>
        </p:nvSpPr>
        <p:spPr>
          <a:xfrm>
            <a:off x="11582400" y="6705600"/>
            <a:ext cx="3048000" cy="3048000"/>
          </a:xfrm>
          <a:prstGeom prst="ellipse"/>
          <a:solidFill>
            <a:srgbClr val="FFFFFF"/>
          </a:solidFill>
          <a:ln w="25400">
            <a:noFill/>
            <a:prstDash val="solid"/>
          </a:ln>
        </p:spPr>
        <p:txBody>
          <a:bodyPr anchor="ctr"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0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/>
        </p:spPr>
      </p:pic>
      <p:sp>
        <p:nvSpPr>
          <p:cNvPr id="1048658" name="Text 0"/>
          <p:cNvSpPr/>
          <p:nvPr/>
        </p:nvSpPr>
        <p:spPr>
          <a:xfrm>
            <a:off x="6280190" y="2128838"/>
            <a:ext cx="6430566" cy="708779"/>
          </a:xfrm>
          <a:prstGeom prst="rect"/>
          <a:noFill/>
        </p:spPr>
        <p:txBody>
          <a:bodyPr anchor="t" bIns="0" lIns="0" rIns="0" rtlCol="0" tIns="0" wrap="none"/>
          <a:p>
            <a:pPr indent="0" marL="0">
              <a:lnSpc>
                <a:spcPts val="5550"/>
              </a:lnSpc>
              <a:buNone/>
            </a:pPr>
            <a:r>
              <a:rPr b="1" dirty="0" sz="4450" kern="0" lang="en-US" spc="-134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Admin Module Overview</a:t>
            </a:r>
            <a:endParaRPr dirty="0" sz="4450" lang="en-US"/>
          </a:p>
        </p:txBody>
      </p:sp>
      <p:sp>
        <p:nvSpPr>
          <p:cNvPr id="1048659" name="Shape 1"/>
          <p:cNvSpPr/>
          <p:nvPr/>
        </p:nvSpPr>
        <p:spPr>
          <a:xfrm>
            <a:off x="6280190" y="343292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048660" name="Text 2"/>
          <p:cNvSpPr/>
          <p:nvPr/>
        </p:nvSpPr>
        <p:spPr>
          <a:xfrm>
            <a:off x="6466999" y="3517940"/>
            <a:ext cx="136565" cy="340281"/>
          </a:xfrm>
          <a:prstGeom prst="rect"/>
          <a:noFill/>
        </p:spPr>
        <p:txBody>
          <a:bodyPr anchor="t" bIns="0" lIns="0" rIns="0" rtlCol="0" tIns="0" wrap="none"/>
          <a:p>
            <a:pPr algn="ctr" indent="0" marL="0">
              <a:lnSpc>
                <a:spcPts val="2650"/>
              </a:lnSpc>
              <a:buNone/>
            </a:pPr>
            <a:r>
              <a:rPr b="1" dirty="0" sz="2650" kern="0" lang="en-US" spc="-8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dirty="0" sz="2650" lang="en-US"/>
          </a:p>
        </p:txBody>
      </p:sp>
      <p:sp>
        <p:nvSpPr>
          <p:cNvPr id="1048661" name="Text 3"/>
          <p:cNvSpPr/>
          <p:nvPr/>
        </p:nvSpPr>
        <p:spPr>
          <a:xfrm>
            <a:off x="7017306" y="3432929"/>
            <a:ext cx="2835235" cy="354330"/>
          </a:xfrm>
          <a:prstGeom prst="rect"/>
          <a:noFill/>
        </p:spPr>
        <p:txBody>
          <a:bodyPr anchor="t" bIns="0" lIns="0" rIns="0" rtlCol="0" tIns="0" wrap="none"/>
          <a:p>
            <a:pPr indent="0" marL="0">
              <a:lnSpc>
                <a:spcPts val="2750"/>
              </a:lnSpc>
              <a:buNone/>
            </a:pPr>
            <a:r>
              <a:rPr b="1" dirty="0" sz="2200" kern="0" lang="en-US" spc="-67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Admin Panel</a:t>
            </a:r>
            <a:endParaRPr dirty="0" sz="2200" lang="en-US"/>
          </a:p>
        </p:txBody>
      </p:sp>
      <p:sp>
        <p:nvSpPr>
          <p:cNvPr id="1048662" name="Text 4"/>
          <p:cNvSpPr/>
          <p:nvPr/>
        </p:nvSpPr>
        <p:spPr>
          <a:xfrm>
            <a:off x="7017306" y="3923348"/>
            <a:ext cx="2927747" cy="2177415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lnSpc>
                <a:spcPts val="2850"/>
              </a:lnSpc>
              <a:buNone/>
            </a:pPr>
            <a:r>
              <a:rPr dirty="0" sz="1750" kern="0" lang="en-US" spc="-36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Administrators can manage student profiles, monitor service and product listings, handle user feedback and reviews, and oversee the overall system operation.</a:t>
            </a:r>
            <a:endParaRPr dirty="0" sz="1750" lang="en-US"/>
          </a:p>
        </p:txBody>
      </p:sp>
      <p:sp>
        <p:nvSpPr>
          <p:cNvPr id="1048663" name="Shape 5"/>
          <p:cNvSpPr/>
          <p:nvPr/>
        </p:nvSpPr>
        <p:spPr>
          <a:xfrm>
            <a:off x="10171867" y="343292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048664" name="Text 6"/>
          <p:cNvSpPr/>
          <p:nvPr/>
        </p:nvSpPr>
        <p:spPr>
          <a:xfrm>
            <a:off x="10324981" y="3517940"/>
            <a:ext cx="204073" cy="340281"/>
          </a:xfrm>
          <a:prstGeom prst="rect"/>
          <a:noFill/>
        </p:spPr>
        <p:txBody>
          <a:bodyPr anchor="t" bIns="0" lIns="0" rIns="0" rtlCol="0" tIns="0" wrap="none"/>
          <a:p>
            <a:pPr algn="ctr" indent="0" marL="0">
              <a:lnSpc>
                <a:spcPts val="2650"/>
              </a:lnSpc>
              <a:buNone/>
            </a:pPr>
            <a:r>
              <a:rPr b="1" dirty="0" sz="2650" kern="0" lang="en-US" spc="-8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dirty="0" sz="2650" lang="en-US"/>
          </a:p>
        </p:txBody>
      </p:sp>
      <p:sp>
        <p:nvSpPr>
          <p:cNvPr id="1048665" name="Text 7"/>
          <p:cNvSpPr/>
          <p:nvPr/>
        </p:nvSpPr>
        <p:spPr>
          <a:xfrm>
            <a:off x="10908983" y="3432929"/>
            <a:ext cx="2835235" cy="354330"/>
          </a:xfrm>
          <a:prstGeom prst="rect"/>
          <a:noFill/>
        </p:spPr>
        <p:txBody>
          <a:bodyPr anchor="t" bIns="0" lIns="0" rIns="0" rtlCol="0" tIns="0" wrap="none"/>
          <a:p>
            <a:pPr indent="0" marL="0">
              <a:lnSpc>
                <a:spcPts val="2750"/>
              </a:lnSpc>
              <a:buNone/>
            </a:pPr>
            <a:r>
              <a:rPr b="1" dirty="0" sz="2200" kern="0" lang="en-US" spc="-67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Features</a:t>
            </a:r>
            <a:endParaRPr dirty="0" sz="2200" lang="en-US"/>
          </a:p>
        </p:txBody>
      </p:sp>
      <p:sp>
        <p:nvSpPr>
          <p:cNvPr id="1048666" name="Text 8"/>
          <p:cNvSpPr/>
          <p:nvPr/>
        </p:nvSpPr>
        <p:spPr>
          <a:xfrm>
            <a:off x="10908983" y="3923348"/>
            <a:ext cx="2927747" cy="145161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lnSpc>
                <a:spcPts val="2850"/>
              </a:lnSpc>
              <a:buNone/>
            </a:pPr>
            <a:r>
              <a:rPr dirty="0" sz="1750" kern="0" lang="en-US" spc="-36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admin module is a web-based interface that allows administrators to manage the system.</a:t>
            </a:r>
            <a:endParaRPr dirty="0" sz="1750" lang="en-US"/>
          </a:p>
        </p:txBody>
      </p:sp>
      <p:sp>
        <p:nvSpPr>
          <p:cNvPr id="1048667" name=""/>
          <p:cNvSpPr/>
          <p:nvPr/>
        </p:nvSpPr>
        <p:spPr>
          <a:xfrm>
            <a:off x="12372856" y="6460689"/>
            <a:ext cx="3048000" cy="3048000"/>
          </a:xfrm>
          <a:prstGeom prst="ellipse"/>
          <a:solidFill>
            <a:srgbClr val="FFFFFF"/>
          </a:solidFill>
          <a:ln w="25400">
            <a:noFill/>
            <a:prstDash val="solid"/>
          </a:ln>
        </p:spPr>
        <p:txBody>
          <a:bodyPr anchor="ctr"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4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/>
        </p:spPr>
      </p:pic>
      <p:sp>
        <p:nvSpPr>
          <p:cNvPr id="1048623" name="Text 0"/>
          <p:cNvSpPr/>
          <p:nvPr/>
        </p:nvSpPr>
        <p:spPr>
          <a:xfrm>
            <a:off x="793790" y="4165402"/>
            <a:ext cx="7961471" cy="708779"/>
          </a:xfrm>
          <a:prstGeom prst="rect"/>
          <a:noFill/>
        </p:spPr>
        <p:txBody>
          <a:bodyPr anchor="t" bIns="0" lIns="0" rIns="0" rtlCol="0" tIns="0" wrap="none"/>
          <a:p>
            <a:pPr indent="0" marL="0">
              <a:lnSpc>
                <a:spcPts val="5550"/>
              </a:lnSpc>
              <a:buNone/>
            </a:pPr>
            <a:r>
              <a:rPr b="1" dirty="0" sz="4450" kern="0" lang="en-US" spc="-134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Examples of Student Offerings</a:t>
            </a:r>
            <a:endParaRPr dirty="0" sz="4450" lang="en-US"/>
          </a:p>
        </p:txBody>
      </p:sp>
      <p:sp>
        <p:nvSpPr>
          <p:cNvPr id="1048624" name="Shape 1"/>
          <p:cNvSpPr/>
          <p:nvPr/>
        </p:nvSpPr>
        <p:spPr>
          <a:xfrm>
            <a:off x="793790" y="5214342"/>
            <a:ext cx="6408063" cy="168509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048625" name="Text 2"/>
          <p:cNvSpPr/>
          <p:nvPr/>
        </p:nvSpPr>
        <p:spPr>
          <a:xfrm>
            <a:off x="1028224" y="5448776"/>
            <a:ext cx="2835235" cy="354330"/>
          </a:xfrm>
          <a:prstGeom prst="rect"/>
          <a:noFill/>
        </p:spPr>
        <p:txBody>
          <a:bodyPr anchor="t" bIns="0" lIns="0" rIns="0" rtlCol="0" tIns="0" wrap="none"/>
          <a:p>
            <a:pPr indent="0" marL="0">
              <a:lnSpc>
                <a:spcPts val="2750"/>
              </a:lnSpc>
              <a:buNone/>
            </a:pPr>
            <a:r>
              <a:rPr b="1" dirty="0" sz="2200" kern="0" lang="en-US" spc="-67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Services</a:t>
            </a:r>
            <a:endParaRPr dirty="0" sz="2200" lang="en-US"/>
          </a:p>
        </p:txBody>
      </p:sp>
      <p:sp>
        <p:nvSpPr>
          <p:cNvPr id="1048626" name="Text 3"/>
          <p:cNvSpPr/>
          <p:nvPr/>
        </p:nvSpPr>
        <p:spPr>
          <a:xfrm>
            <a:off x="1028224" y="5939195"/>
            <a:ext cx="5939195" cy="362903"/>
          </a:xfrm>
          <a:prstGeom prst="rect"/>
          <a:noFill/>
        </p:spPr>
        <p:txBody>
          <a:bodyPr anchor="t" bIns="0" lIns="0" rIns="0" rtlCol="0" tIns="0" wrap="none"/>
          <a:p>
            <a:pPr indent="0" marL="0">
              <a:lnSpc>
                <a:spcPts val="2850"/>
              </a:lnSpc>
              <a:buNone/>
            </a:pPr>
            <a:r>
              <a:rPr dirty="0" sz="1750" kern="0" lang="en-US" spc="-36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Singing, piano playing, tutoring, and more.</a:t>
            </a:r>
            <a:endParaRPr dirty="0" sz="1750" lang="en-US"/>
          </a:p>
        </p:txBody>
      </p:sp>
      <p:sp>
        <p:nvSpPr>
          <p:cNvPr id="1048627" name="Shape 4"/>
          <p:cNvSpPr/>
          <p:nvPr/>
        </p:nvSpPr>
        <p:spPr>
          <a:xfrm>
            <a:off x="7428667" y="5214342"/>
            <a:ext cx="6408063" cy="168509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048628" name="Text 5"/>
          <p:cNvSpPr/>
          <p:nvPr/>
        </p:nvSpPr>
        <p:spPr>
          <a:xfrm>
            <a:off x="7663101" y="5448776"/>
            <a:ext cx="2835235" cy="354330"/>
          </a:xfrm>
          <a:prstGeom prst="rect"/>
          <a:noFill/>
        </p:spPr>
        <p:txBody>
          <a:bodyPr anchor="t" bIns="0" lIns="0" rIns="0" rtlCol="0" tIns="0" wrap="none"/>
          <a:p>
            <a:pPr indent="0" marL="0">
              <a:lnSpc>
                <a:spcPts val="2750"/>
              </a:lnSpc>
              <a:buNone/>
            </a:pPr>
            <a:r>
              <a:rPr b="1" dirty="0" sz="2200" kern="0" lang="en-US" spc="-67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Products</a:t>
            </a:r>
            <a:endParaRPr dirty="0" sz="2200" lang="en-US"/>
          </a:p>
        </p:txBody>
      </p:sp>
      <p:sp>
        <p:nvSpPr>
          <p:cNvPr id="1048629" name="Text 6"/>
          <p:cNvSpPr/>
          <p:nvPr/>
        </p:nvSpPr>
        <p:spPr>
          <a:xfrm>
            <a:off x="7663101" y="5939195"/>
            <a:ext cx="5939195" cy="725805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lnSpc>
                <a:spcPts val="2850"/>
              </a:lnSpc>
              <a:buNone/>
            </a:pPr>
            <a:r>
              <a:rPr dirty="0" sz="1750" kern="0" lang="en-US" spc="-36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Handmade craftwork or any other items created by the students for sale.</a:t>
            </a:r>
            <a:endParaRPr dirty="0" sz="1750" lang="en-US"/>
          </a:p>
        </p:txBody>
      </p:sp>
      <p:sp>
        <p:nvSpPr>
          <p:cNvPr id="1048630" name=""/>
          <p:cNvSpPr/>
          <p:nvPr/>
        </p:nvSpPr>
        <p:spPr>
          <a:xfrm>
            <a:off x="12618937" y="7218845"/>
            <a:ext cx="3048000" cy="3048000"/>
          </a:xfrm>
          <a:prstGeom prst="ellipse"/>
          <a:solidFill>
            <a:srgbClr val="FFFFFF"/>
          </a:solidFill>
          <a:ln w="25400">
            <a:noFill/>
            <a:prstDash val="solid"/>
          </a:ln>
        </p:spPr>
        <p:txBody>
          <a:bodyPr anchor="ctr"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Text 0"/>
          <p:cNvSpPr/>
          <p:nvPr/>
        </p:nvSpPr>
        <p:spPr>
          <a:xfrm>
            <a:off x="793790" y="2539960"/>
            <a:ext cx="5714167" cy="708779"/>
          </a:xfrm>
          <a:prstGeom prst="rect"/>
          <a:noFill/>
        </p:spPr>
        <p:txBody>
          <a:bodyPr anchor="t" bIns="0" lIns="0" rIns="0" rtlCol="0" tIns="0" wrap="none"/>
          <a:p>
            <a:pPr indent="0" marL="0">
              <a:lnSpc>
                <a:spcPts val="5550"/>
              </a:lnSpc>
              <a:buNone/>
            </a:pPr>
            <a:r>
              <a:rPr b="1" dirty="0" sz="4450" kern="0" lang="en-US" spc="-134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Value Proposition</a:t>
            </a:r>
            <a:endParaRPr dirty="0" sz="4450" lang="en-US"/>
          </a:p>
        </p:txBody>
      </p:sp>
      <p:sp>
        <p:nvSpPr>
          <p:cNvPr id="1048613" name="Text 1"/>
          <p:cNvSpPr/>
          <p:nvPr/>
        </p:nvSpPr>
        <p:spPr>
          <a:xfrm>
            <a:off x="793790" y="3815715"/>
            <a:ext cx="2835235" cy="354330"/>
          </a:xfrm>
          <a:prstGeom prst="rect"/>
          <a:noFill/>
        </p:spPr>
        <p:txBody>
          <a:bodyPr anchor="t" bIns="0" lIns="0" rIns="0" rtlCol="0" tIns="0" wrap="none"/>
          <a:p>
            <a:pPr indent="0" marL="0">
              <a:lnSpc>
                <a:spcPts val="2750"/>
              </a:lnSpc>
              <a:buNone/>
            </a:pPr>
            <a:r>
              <a:rPr b="1" dirty="0" sz="2200" kern="0" lang="en-US" spc="-67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Student Benefits</a:t>
            </a:r>
            <a:endParaRPr dirty="0" sz="2200" lang="en-US"/>
          </a:p>
        </p:txBody>
      </p:sp>
      <p:sp>
        <p:nvSpPr>
          <p:cNvPr id="1048614" name="Text 2"/>
          <p:cNvSpPr/>
          <p:nvPr/>
        </p:nvSpPr>
        <p:spPr>
          <a:xfrm>
            <a:off x="793790" y="4396859"/>
            <a:ext cx="6244709" cy="1088708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lnSpc>
                <a:spcPts val="2850"/>
              </a:lnSpc>
              <a:buNone/>
            </a:pPr>
            <a:r>
              <a:rPr dirty="0" sz="1750" kern="0" lang="en-US" spc="-36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a convenient and user-friendly platform for student entrepreneurs to showcase their skills and monetize their talents.</a:t>
            </a:r>
            <a:endParaRPr dirty="0" sz="1750" lang="en-US"/>
          </a:p>
        </p:txBody>
      </p:sp>
      <p:sp>
        <p:nvSpPr>
          <p:cNvPr id="1048615" name="Text 3"/>
          <p:cNvSpPr/>
          <p:nvPr/>
        </p:nvSpPr>
        <p:spPr>
          <a:xfrm>
            <a:off x="7599521" y="3815715"/>
            <a:ext cx="2835235" cy="354330"/>
          </a:xfrm>
          <a:prstGeom prst="rect"/>
          <a:noFill/>
        </p:spPr>
        <p:txBody>
          <a:bodyPr anchor="t" bIns="0" lIns="0" rIns="0" rtlCol="0" tIns="0" wrap="none"/>
          <a:p>
            <a:pPr indent="0" marL="0">
              <a:lnSpc>
                <a:spcPts val="2750"/>
              </a:lnSpc>
              <a:buNone/>
            </a:pPr>
            <a:r>
              <a:rPr b="1" dirty="0" sz="2200" kern="0" lang="en-US" spc="-67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 Benefits</a:t>
            </a:r>
            <a:endParaRPr dirty="0" sz="2200" lang="en-US"/>
          </a:p>
        </p:txBody>
      </p:sp>
      <p:sp>
        <p:nvSpPr>
          <p:cNvPr id="1048616" name="Text 4"/>
          <p:cNvSpPr/>
          <p:nvPr/>
        </p:nvSpPr>
        <p:spPr>
          <a:xfrm>
            <a:off x="7599521" y="4396859"/>
            <a:ext cx="6244709" cy="725805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lnSpc>
                <a:spcPts val="2850"/>
              </a:lnSpc>
              <a:buNone/>
            </a:pPr>
            <a:r>
              <a:rPr dirty="0" sz="1750" kern="0" lang="en-US" spc="-36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Offers users a wide range of services and products to choose from, along with an easy booking process.</a:t>
            </a:r>
            <a:endParaRPr dirty="0" sz="1750" lang="en-US"/>
          </a:p>
        </p:txBody>
      </p:sp>
      <p:sp>
        <p:nvSpPr>
          <p:cNvPr id="1048617" name=""/>
          <p:cNvSpPr/>
          <p:nvPr/>
        </p:nvSpPr>
        <p:spPr>
          <a:xfrm flipH="1">
            <a:off x="11194663" y="7177338"/>
            <a:ext cx="4257055" cy="3048000"/>
          </a:xfrm>
          <a:prstGeom prst="ellipse"/>
          <a:solidFill>
            <a:srgbClr val="FFFFFF"/>
          </a:solidFill>
          <a:ln w="25400">
            <a:noFill/>
            <a:prstDash val="solid"/>
          </a:ln>
        </p:spPr>
        <p:txBody>
          <a:bodyPr anchor="ctr"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9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/>
        </p:spPr>
      </p:pic>
      <p:sp>
        <p:nvSpPr>
          <p:cNvPr id="1048601" name="Text 0"/>
          <p:cNvSpPr/>
          <p:nvPr/>
        </p:nvSpPr>
        <p:spPr>
          <a:xfrm>
            <a:off x="6280190" y="2053709"/>
            <a:ext cx="7556421" cy="1417558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lnSpc>
                <a:spcPts val="5550"/>
              </a:lnSpc>
              <a:buNone/>
            </a:pPr>
            <a:r>
              <a:rPr b="1" dirty="0" sz="4450" kern="0" lang="en-US" spc="-134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Impact on the Student Community</a:t>
            </a:r>
            <a:endParaRPr dirty="0" sz="4450" lang="en-US"/>
          </a:p>
        </p:txBody>
      </p:sp>
      <p:pic>
        <p:nvPicPr>
          <p:cNvPr id="2097160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280190" y="3811429"/>
            <a:ext cx="566976" cy="566976"/>
          </a:xfrm>
          <a:prstGeom prst="rect"/>
        </p:spPr>
      </p:pic>
      <p:sp>
        <p:nvSpPr>
          <p:cNvPr id="1048602" name="Text 1"/>
          <p:cNvSpPr/>
          <p:nvPr/>
        </p:nvSpPr>
        <p:spPr>
          <a:xfrm>
            <a:off x="6280190" y="4605218"/>
            <a:ext cx="3594259" cy="35433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2750"/>
              </a:lnSpc>
              <a:buNone/>
            </a:pPr>
            <a:r>
              <a:rPr b="1" dirty="0" sz="2200" kern="0" lang="en-US" spc="-67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Promotes Entrepreneurship</a:t>
            </a:r>
            <a:endParaRPr dirty="0" sz="2200" lang="en-US"/>
          </a:p>
        </p:txBody>
      </p:sp>
      <p:sp>
        <p:nvSpPr>
          <p:cNvPr id="1048603" name="Text 2"/>
          <p:cNvSpPr/>
          <p:nvPr/>
        </p:nvSpPr>
        <p:spPr>
          <a:xfrm>
            <a:off x="6280190" y="5095637"/>
            <a:ext cx="3608070" cy="725805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2850"/>
              </a:lnSpc>
              <a:buNone/>
            </a:pPr>
            <a:r>
              <a:rPr dirty="0" sz="1750" kern="0" lang="en-US" spc="-36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Empowers students to develop their entrepreneurial skills.</a:t>
            </a:r>
            <a:endParaRPr dirty="0" sz="1750" lang="en-US"/>
          </a:p>
        </p:txBody>
      </p:sp>
      <p:pic>
        <p:nvPicPr>
          <p:cNvPr id="2097161" name="Image 2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10228421" y="3811429"/>
            <a:ext cx="566976" cy="566976"/>
          </a:xfrm>
          <a:prstGeom prst="rect"/>
        </p:spPr>
      </p:pic>
      <p:sp>
        <p:nvSpPr>
          <p:cNvPr id="1048604" name="Text 3"/>
          <p:cNvSpPr/>
          <p:nvPr/>
        </p:nvSpPr>
        <p:spPr>
          <a:xfrm>
            <a:off x="10228421" y="4605218"/>
            <a:ext cx="3608189" cy="70866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2750"/>
              </a:lnSpc>
              <a:buNone/>
            </a:pPr>
            <a:r>
              <a:rPr b="1" dirty="0" sz="2200" kern="0" lang="en-US" spc="-67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Fosters a Vibrant Marketplace</a:t>
            </a:r>
            <a:endParaRPr dirty="0" sz="2200" lang="en-US"/>
          </a:p>
        </p:txBody>
      </p:sp>
      <p:sp>
        <p:nvSpPr>
          <p:cNvPr id="1048605" name="Text 4"/>
          <p:cNvSpPr/>
          <p:nvPr/>
        </p:nvSpPr>
        <p:spPr>
          <a:xfrm>
            <a:off x="10228421" y="5449967"/>
            <a:ext cx="3608189" cy="725805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2850"/>
              </a:lnSpc>
              <a:buNone/>
            </a:pPr>
            <a:r>
              <a:rPr dirty="0" sz="1750" kern="0" lang="en-US" spc="-36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Connects students with users, creating a thriving marketplace.</a:t>
            </a:r>
            <a:endParaRPr dirty="0" sz="1750" lang="en-US"/>
          </a:p>
        </p:txBody>
      </p:sp>
      <p:sp>
        <p:nvSpPr>
          <p:cNvPr id="1048606" name=""/>
          <p:cNvSpPr/>
          <p:nvPr/>
        </p:nvSpPr>
        <p:spPr>
          <a:xfrm>
            <a:off x="12312611" y="7094323"/>
            <a:ext cx="3048000" cy="3048000"/>
          </a:xfrm>
          <a:prstGeom prst="ellipse"/>
          <a:solidFill>
            <a:srgbClr val="FFFFFF"/>
          </a:solidFill>
          <a:ln w="25400">
            <a:noFill/>
            <a:prstDash val="solid"/>
          </a:ln>
        </p:spPr>
        <p:txBody>
          <a:bodyPr anchor="ctr"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8" name="Text 0"/>
          <p:cNvSpPr/>
          <p:nvPr/>
        </p:nvSpPr>
        <p:spPr>
          <a:xfrm>
            <a:off x="793790" y="2264926"/>
            <a:ext cx="5670590" cy="708779"/>
          </a:xfrm>
          <a:prstGeom prst="rect"/>
          <a:noFill/>
        </p:spPr>
        <p:txBody>
          <a:bodyPr anchor="t" bIns="0" lIns="0" rIns="0" rtlCol="0" tIns="0" wrap="none"/>
          <a:p>
            <a:pPr indent="0" marL="0">
              <a:lnSpc>
                <a:spcPts val="5550"/>
              </a:lnSpc>
              <a:buNone/>
            </a:pPr>
            <a:r>
              <a:rPr b="1" dirty="0" sz="4450" kern="0" lang="en-US" spc="-134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Directions</a:t>
            </a:r>
            <a:endParaRPr dirty="0" sz="4450" lang="en-US"/>
          </a:p>
        </p:txBody>
      </p:sp>
      <p:pic>
        <p:nvPicPr>
          <p:cNvPr id="2097153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2978348" y="3427333"/>
            <a:ext cx="2152055" cy="807958"/>
          </a:xfrm>
          <a:prstGeom prst="rect"/>
        </p:spPr>
      </p:pic>
      <p:sp>
        <p:nvSpPr>
          <p:cNvPr id="1048579" name="Text 1"/>
          <p:cNvSpPr/>
          <p:nvPr/>
        </p:nvSpPr>
        <p:spPr>
          <a:xfrm>
            <a:off x="3997523" y="3691652"/>
            <a:ext cx="113705" cy="453509"/>
          </a:xfrm>
          <a:prstGeom prst="rect"/>
          <a:noFill/>
        </p:spPr>
        <p:txBody>
          <a:bodyPr anchor="t" bIns="0" lIns="0" rIns="0" rtlCol="0" tIns="0" wrap="none"/>
          <a:p>
            <a:pPr algn="ctr" indent="0" marL="0">
              <a:lnSpc>
                <a:spcPts val="3550"/>
              </a:lnSpc>
              <a:buNone/>
            </a:pPr>
            <a:r>
              <a:rPr b="1" dirty="0" sz="2200" kern="0" lang="en-US" spc="-67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dirty="0" sz="2200" lang="en-US"/>
          </a:p>
        </p:txBody>
      </p:sp>
      <p:sp>
        <p:nvSpPr>
          <p:cNvPr id="1048580" name="Text 2"/>
          <p:cNvSpPr/>
          <p:nvPr/>
        </p:nvSpPr>
        <p:spPr>
          <a:xfrm>
            <a:off x="5357217" y="3654147"/>
            <a:ext cx="3533180" cy="35433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2750"/>
              </a:lnSpc>
              <a:buNone/>
            </a:pPr>
            <a:r>
              <a:rPr b="1" dirty="0" sz="2200" kern="0" lang="en-US" spc="-67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Expand Service Categories</a:t>
            </a:r>
            <a:endParaRPr dirty="0" sz="2200" lang="en-US"/>
          </a:p>
        </p:txBody>
      </p:sp>
      <p:sp>
        <p:nvSpPr>
          <p:cNvPr id="1048581" name="Shape 3"/>
          <p:cNvSpPr/>
          <p:nvPr/>
        </p:nvSpPr>
        <p:spPr>
          <a:xfrm>
            <a:off x="5187077" y="4248388"/>
            <a:ext cx="8592860" cy="15240"/>
          </a:xfrm>
          <a:prstGeom prst="roundRect">
            <a:avLst>
              <a:gd name="adj" fmla="val 625116"/>
            </a:avLst>
          </a:prstGeom>
          <a:solidFill>
            <a:srgbClr val="C0C1D7"/>
          </a:solidFill>
        </p:spPr>
      </p:sp>
      <p:pic>
        <p:nvPicPr>
          <p:cNvPr id="2097154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1902381" y="4291965"/>
            <a:ext cx="4304109" cy="807958"/>
          </a:xfrm>
          <a:prstGeom prst="rect"/>
        </p:spPr>
      </p:pic>
      <p:sp>
        <p:nvSpPr>
          <p:cNvPr id="1048582" name="Text 4"/>
          <p:cNvSpPr/>
          <p:nvPr/>
        </p:nvSpPr>
        <p:spPr>
          <a:xfrm>
            <a:off x="3969306" y="4469130"/>
            <a:ext cx="170021" cy="453509"/>
          </a:xfrm>
          <a:prstGeom prst="rect"/>
          <a:noFill/>
        </p:spPr>
        <p:txBody>
          <a:bodyPr anchor="t" bIns="0" lIns="0" rIns="0" rtlCol="0" tIns="0" wrap="none"/>
          <a:p>
            <a:pPr algn="ctr" indent="0" marL="0">
              <a:lnSpc>
                <a:spcPts val="3550"/>
              </a:lnSpc>
              <a:buNone/>
            </a:pPr>
            <a:r>
              <a:rPr b="1" dirty="0" sz="2200" kern="0" lang="en-US" spc="-67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dirty="0" sz="2200" lang="en-US"/>
          </a:p>
        </p:txBody>
      </p:sp>
      <p:sp>
        <p:nvSpPr>
          <p:cNvPr id="1048583" name="Text 5"/>
          <p:cNvSpPr/>
          <p:nvPr/>
        </p:nvSpPr>
        <p:spPr>
          <a:xfrm>
            <a:off x="6433304" y="4518779"/>
            <a:ext cx="3603546" cy="35433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2750"/>
              </a:lnSpc>
              <a:buNone/>
            </a:pPr>
            <a:r>
              <a:rPr b="1" dirty="0" sz="2200" kern="0" lang="en-US" spc="-67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Integrate Payment Gateway</a:t>
            </a:r>
            <a:endParaRPr dirty="0" sz="2200" lang="en-US"/>
          </a:p>
        </p:txBody>
      </p:sp>
      <p:sp>
        <p:nvSpPr>
          <p:cNvPr id="1048584" name="Shape 6"/>
          <p:cNvSpPr/>
          <p:nvPr/>
        </p:nvSpPr>
        <p:spPr>
          <a:xfrm>
            <a:off x="6263164" y="5113020"/>
            <a:ext cx="7516773" cy="15240"/>
          </a:xfrm>
          <a:prstGeom prst="roundRect">
            <a:avLst>
              <a:gd name="adj" fmla="val 625116"/>
            </a:avLst>
          </a:prstGeom>
          <a:solidFill>
            <a:srgbClr val="C0C1D7"/>
          </a:solidFill>
        </p:spPr>
      </p:sp>
      <p:pic>
        <p:nvPicPr>
          <p:cNvPr id="2097155" name="Image 2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826294" y="5156597"/>
            <a:ext cx="6456164" cy="807958"/>
          </a:xfrm>
          <a:prstGeom prst="rect"/>
        </p:spPr>
      </p:pic>
      <p:sp>
        <p:nvSpPr>
          <p:cNvPr id="1048585" name="Text 7"/>
          <p:cNvSpPr/>
          <p:nvPr/>
        </p:nvSpPr>
        <p:spPr>
          <a:xfrm>
            <a:off x="3967043" y="5333762"/>
            <a:ext cx="174427" cy="453509"/>
          </a:xfrm>
          <a:prstGeom prst="rect"/>
          <a:noFill/>
        </p:spPr>
        <p:txBody>
          <a:bodyPr anchor="t" bIns="0" lIns="0" rIns="0" rtlCol="0" tIns="0" wrap="none"/>
          <a:p>
            <a:pPr algn="ctr" indent="0" marL="0">
              <a:lnSpc>
                <a:spcPts val="3550"/>
              </a:lnSpc>
              <a:buNone/>
            </a:pPr>
            <a:r>
              <a:rPr b="1" dirty="0" sz="2200" kern="0" lang="en-US" spc="-67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dirty="0" sz="2200" lang="en-US"/>
          </a:p>
        </p:txBody>
      </p:sp>
      <p:sp>
        <p:nvSpPr>
          <p:cNvPr id="1048586" name="Text 8"/>
          <p:cNvSpPr/>
          <p:nvPr/>
        </p:nvSpPr>
        <p:spPr>
          <a:xfrm>
            <a:off x="7509272" y="5383411"/>
            <a:ext cx="2619970" cy="35433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2750"/>
              </a:lnSpc>
              <a:buNone/>
            </a:pPr>
            <a:r>
              <a:rPr b="1" dirty="0" sz="2200" kern="0" lang="en-US" spc="-67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Develop Mobile App</a:t>
            </a:r>
            <a:endParaRPr dirty="0" sz="2200" lang="en-US"/>
          </a:p>
        </p:txBody>
      </p:sp>
      <p:sp>
        <p:nvSpPr>
          <p:cNvPr id="1048587" name=""/>
          <p:cNvSpPr/>
          <p:nvPr/>
        </p:nvSpPr>
        <p:spPr>
          <a:xfrm>
            <a:off x="12577430" y="6440583"/>
            <a:ext cx="3048000" cy="3048000"/>
          </a:xfrm>
          <a:prstGeom prst="ellipse"/>
          <a:solidFill>
            <a:srgbClr val="FFFFFF"/>
          </a:solidFill>
          <a:ln w="25400">
            <a:noFill/>
            <a:prstDash val="solid"/>
          </a:ln>
        </p:spPr>
        <p:txBody>
          <a:bodyPr anchor="ctr"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7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/>
        </p:spPr>
      </p:pic>
      <p:sp>
        <p:nvSpPr>
          <p:cNvPr id="1048593" name="Text 0"/>
          <p:cNvSpPr/>
          <p:nvPr/>
        </p:nvSpPr>
        <p:spPr>
          <a:xfrm>
            <a:off x="793790" y="4463534"/>
            <a:ext cx="5670590" cy="708779"/>
          </a:xfrm>
          <a:prstGeom prst="rect"/>
          <a:noFill/>
        </p:spPr>
        <p:txBody>
          <a:bodyPr anchor="t" bIns="0" lIns="0" rIns="0" rtlCol="0" tIns="0" wrap="none"/>
          <a:p>
            <a:pPr indent="0" marL="0">
              <a:lnSpc>
                <a:spcPts val="5550"/>
              </a:lnSpc>
              <a:buNone/>
            </a:pPr>
            <a:r>
              <a:rPr b="1" dirty="0" sz="4450" kern="0" lang="en-US" spc="-134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</a:t>
            </a:r>
            <a:endParaRPr dirty="0" sz="4450" lang="en-US"/>
          </a:p>
        </p:txBody>
      </p:sp>
      <p:sp>
        <p:nvSpPr>
          <p:cNvPr id="1048594" name="Text 1"/>
          <p:cNvSpPr/>
          <p:nvPr/>
        </p:nvSpPr>
        <p:spPr>
          <a:xfrm>
            <a:off x="793790" y="5512475"/>
            <a:ext cx="13042821" cy="1088708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lnSpc>
                <a:spcPts val="2850"/>
              </a:lnSpc>
              <a:buNone/>
            </a:pPr>
            <a:r>
              <a:rPr dirty="0" sz="1750" kern="0" lang="en-US" spc="-36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Student Entrepreneur System offers a valuable platform for students to launch and grow their entrepreneurial ventures. It provides a user-friendly experience, fosters a thriving marketplace, and empowers students to explore their entrepreneurial potential.</a:t>
            </a:r>
            <a:endParaRPr dirty="0" sz="1750" lang="en-US"/>
          </a:p>
        </p:txBody>
      </p:sp>
      <p:sp>
        <p:nvSpPr>
          <p:cNvPr id="1048595" name=""/>
          <p:cNvSpPr/>
          <p:nvPr/>
        </p:nvSpPr>
        <p:spPr>
          <a:xfrm>
            <a:off x="12312611" y="6601183"/>
            <a:ext cx="3048000" cy="3048000"/>
          </a:xfrm>
          <a:prstGeom prst="ellipse"/>
          <a:solidFill>
            <a:srgbClr val="FFFFFF"/>
          </a:solidFill>
          <a:ln w="25400">
            <a:noFill/>
            <a:prstDash val="solid"/>
          </a:ln>
        </p:spPr>
        <p:txBody>
          <a:bodyPr anchor="ctr"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Company>PptxGenJS</Company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PptxGenJS Presentation</dc:title>
  <dc:creator>PptxGenJS</dc:creator>
  <cp:lastModifiedBy>PptxGenJS</cp:lastModifiedBy>
  <dcterms:created xsi:type="dcterms:W3CDTF">2024-12-03T19:05:47Z</dcterms:created>
  <dcterms:modified xsi:type="dcterms:W3CDTF">2024-12-05T05:09:39Z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ba5d7f8f5ef84d00afc279244d9c7f2c</vt:lpwstr>
  </property>
</Properties>
</file>